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19"/>
  </p:notesMasterIdLst>
  <p:sldIdLst>
    <p:sldId id="333" r:id="rId2"/>
    <p:sldId id="345" r:id="rId3"/>
    <p:sldId id="346" r:id="rId4"/>
    <p:sldId id="347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348" r:id="rId14"/>
    <p:sldId id="429" r:id="rId15"/>
    <p:sldId id="431" r:id="rId16"/>
    <p:sldId id="430" r:id="rId17"/>
    <p:sldId id="288" r:id="rId1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>
            <a:extLst>
              <a:ext uri="{FF2B5EF4-FFF2-40B4-BE49-F238E27FC236}">
                <a16:creationId xmlns="" xmlns:a16="http://schemas.microsoft.com/office/drawing/2014/main" id="{3FFF03FB-9612-429F-A4D9-E949A593F05C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>
            <a:extLst>
              <a:ext uri="{FF2B5EF4-FFF2-40B4-BE49-F238E27FC236}">
                <a16:creationId xmlns="" xmlns:a16="http://schemas.microsoft.com/office/drawing/2014/main" id="{B34B7842-B81B-46D9-B8D8-AAC4607AF74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6E629E90-0598-45DD-B741-843240823062}" type="datetime1">
              <a:rPr lang="zh-CN" altLang="en-US"/>
              <a:pPr>
                <a:defRPr/>
              </a:pPr>
              <a:t>2023/9/13</a:t>
            </a:fld>
            <a:endParaRPr lang="zh-CN" altLang="en-US" sz="1200"/>
          </a:p>
        </p:txBody>
      </p:sp>
      <p:sp>
        <p:nvSpPr>
          <p:cNvPr id="3076" name="幻灯片图像占位符 3">
            <a:extLst>
              <a:ext uri="{FF2B5EF4-FFF2-40B4-BE49-F238E27FC236}">
                <a16:creationId xmlns="" xmlns:a16="http://schemas.microsoft.com/office/drawing/2014/main" id="{27E75821-7C07-4A44-86D4-DD39A0C89C64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2053" name="备注占位符 4">
            <a:extLst>
              <a:ext uri="{FF2B5EF4-FFF2-40B4-BE49-F238E27FC236}">
                <a16:creationId xmlns="" xmlns:a16="http://schemas.microsoft.com/office/drawing/2014/main" id="{7FA81152-8C2C-44D8-8DEA-D4FD8A93D160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/>
              <a:t>单击此处编辑母版文本样式</a:t>
            </a:r>
          </a:p>
          <a:p>
            <a:pPr>
              <a:defRPr/>
            </a:pPr>
            <a:r>
              <a:rPr lang="zh-CN" altLang="en-US"/>
              <a:t>第二级</a:t>
            </a:r>
          </a:p>
          <a:p>
            <a:pPr>
              <a:defRPr/>
            </a:pPr>
            <a:r>
              <a:rPr lang="zh-CN" altLang="en-US"/>
              <a:t>第三级</a:t>
            </a:r>
          </a:p>
          <a:p>
            <a:pPr>
              <a:defRPr/>
            </a:pPr>
            <a:r>
              <a:rPr lang="zh-CN" altLang="en-US"/>
              <a:t>第四级</a:t>
            </a:r>
          </a:p>
          <a:p>
            <a:pPr>
              <a:defRPr/>
            </a:pPr>
            <a:r>
              <a:rPr lang="zh-CN" altLang="en-US"/>
              <a:t>第五级</a:t>
            </a:r>
          </a:p>
        </p:txBody>
      </p:sp>
      <p:sp>
        <p:nvSpPr>
          <p:cNvPr id="2054" name="页脚占位符 5">
            <a:extLst>
              <a:ext uri="{FF2B5EF4-FFF2-40B4-BE49-F238E27FC236}">
                <a16:creationId xmlns="" xmlns:a16="http://schemas.microsoft.com/office/drawing/2014/main" id="{25EDCDCE-B581-4971-B0D8-1D51B1AE84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>
            <a:extLst>
              <a:ext uri="{FF2B5EF4-FFF2-40B4-BE49-F238E27FC236}">
                <a16:creationId xmlns="" xmlns:a16="http://schemas.microsoft.com/office/drawing/2014/main" id="{BF30D2C0-C5E9-4E35-A6C9-EF8E4D4D97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fld id="{AA733CC1-E014-4D6D-88C2-BE1A1DAD4FDE}" type="slidenum">
              <a:rPr lang="zh-CN" altLang="en-US"/>
              <a:pPr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706093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ACEC0B-5CC3-45F7-BF49-760944AF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AD2E-0034-4810-A639-C9A97B504D30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1E63AC4-DE5D-463B-BF3C-A07E7F98C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A66DC0E-F729-4B8E-A138-E8AEB989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828E66-7847-4F56-B943-50B2F2DFC5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861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6C98282-E6D3-40E8-B934-97F29F94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44C74B-482E-4998-ADCB-0362F81E3DEF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D732B71-D925-4372-99D7-5067F705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CB967F7-164A-4183-A7BF-ADE64F03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B37CB-373E-4990-8107-99D52D7944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2522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CCAD656-E6E7-4E8B-AF94-128899BD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8F9042-945D-45CF-B81F-57592E3966DC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B3FD6F8-319D-4114-B7E3-304066047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8B1FC65-FA03-4016-9083-C79DD8C7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07F009-6FC0-4EAB-95E1-15C2602037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841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95CDCE0F-B11D-429B-9D91-79F53D2F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93B08-4E51-4A11-B88B-F2712B91AEBE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45FA153C-4529-42DD-9586-94797F79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2AE75A0A-ABD9-4708-AD0E-E8306870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835A18-0046-4500-93FF-8678A4DD754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541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071E66AD-7617-4E86-96B2-0E7DB25D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3C618-357D-4226-B57C-5480FE72913A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53FC17B6-A037-48AD-B3C7-D826C788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6F578AB0-F400-42C9-A2B9-88129F5C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A4284-21E0-4964-85DD-EDE7484231D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35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="" xmlns:a16="http://schemas.microsoft.com/office/drawing/2014/main" id="{3630085D-4370-481E-8FA2-5B6D5F58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ED3D2-E13C-452E-AD21-9E38B911669F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2556B81D-87D1-4435-B765-3991FC01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3C1A44B0-C8FB-4571-8B59-E1407D84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3441D8-90FB-4A00-8619-EEA638C735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08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="" xmlns:a16="http://schemas.microsoft.com/office/drawing/2014/main" id="{784D8D5F-1907-4202-88E8-B891882E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5D2DF-594D-4886-AE15-48E87A2EE753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="" xmlns:a16="http://schemas.microsoft.com/office/drawing/2014/main" id="{293183A8-16D4-46EB-A6B8-C3022479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61C623A1-84B6-4D94-B35E-4A7DAE91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7274A6-B866-4071-8F3C-D6EB8DF6D5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623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A893A206-9238-4F87-B4B3-87CFFF47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28D56-63F0-4241-9D74-981956170FD5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87A062F7-A534-4201-9D83-5611EF6E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7E5DE0A6-290F-4684-A9FC-24EDCC8D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0DD14C-06D8-432D-AD63-B907B2EC8F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27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5AB11791-DE4A-435D-8A38-D3F45342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57235-C61D-4BA6-9A39-3D8A9B0DB56A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4BA25D27-2317-4084-98A8-21181A8A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B76E687F-5235-464D-913D-60A9F9EC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B96CD4-CC39-4DC4-8639-BDB01775FD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648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789E747-9317-4B97-8FE9-EEB978EC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62FE9-1426-4DFD-9D61-B4F02CE6E314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C2C17E5-0456-4F86-8E07-DC6B444D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0A14529-CF5C-4F44-A334-A8D2C8E0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DA4788-CEC5-4A7D-82DD-95A44B214E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017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F72A048-910B-4479-96AE-D348FB8F5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4E79C-C264-4A95-A833-137CF2FE1D26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FFC6292-5681-4FA5-8AA5-E9CEA3E9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085D05A-C950-4EA0-A1A3-358059BC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64632-623F-4265-B239-3A575099C2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2485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03624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="" xmlns:a16="http://schemas.microsoft.com/office/drawing/2014/main" id="{7A68F44C-11D6-48E9-B496-577893A304D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="" xmlns:a16="http://schemas.microsoft.com/office/drawing/2014/main" id="{1939B337-D902-44E8-B97C-8E724AF309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5F685E5-E5A5-48DE-A2C9-BAA2C4327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031BD3-7298-4800-81AF-5C61F248781B}" type="datetimeFigureOut">
              <a:rPr lang="en-US"/>
              <a:pPr>
                <a:defRPr/>
              </a:pPr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C7C759A-56AD-4C8E-A923-04475E022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A3F640B-B647-46DB-B7A8-C028A247E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C5E40FDA-9C10-470A-BF8C-F6B6CC3D097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2">
            <a:extLst>
              <a:ext uri="{FF2B5EF4-FFF2-40B4-BE49-F238E27FC236}">
                <a16:creationId xmlns="" xmlns:a16="http://schemas.microsoft.com/office/drawing/2014/main" id="{A09C510C-CECA-42A3-869B-147C91E3E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" r="49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矩形 5">
            <a:extLst>
              <a:ext uri="{FF2B5EF4-FFF2-40B4-BE49-F238E27FC236}">
                <a16:creationId xmlns="" xmlns:a16="http://schemas.microsoft.com/office/drawing/2014/main" id="{FB968BED-3180-40BC-B0EB-1CF8611B5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002" y="3308350"/>
            <a:ext cx="45926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3200" b="1" dirty="0" smtClean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智能算法设计与实践</a:t>
            </a:r>
            <a:endParaRPr lang="en-US" altLang="zh-CN" sz="3200" b="1" dirty="0">
              <a:solidFill>
                <a:srgbClr val="E39A1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1" name="矩形 6">
            <a:extLst>
              <a:ext uri="{FF2B5EF4-FFF2-40B4-BE49-F238E27FC236}">
                <a16:creationId xmlns="" xmlns:a16="http://schemas.microsoft.com/office/drawing/2014/main" id="{E78B8E38-6839-49B7-8A95-18B8AAA53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4283075"/>
            <a:ext cx="38989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44463" algn="l"/>
                <a:tab pos="10795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44463" algn="l"/>
                <a:tab pos="10795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44463" algn="l"/>
                <a:tab pos="1079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44463" algn="l"/>
                <a:tab pos="1079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44463" algn="l"/>
                <a:tab pos="1079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44463" algn="l"/>
                <a:tab pos="1079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44463" algn="l"/>
                <a:tab pos="1079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44463" algn="l"/>
                <a:tab pos="1079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44463" algn="l"/>
                <a:tab pos="1079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周树波</a:t>
            </a:r>
            <a:endParaRPr lang="en-US" altLang="zh-CN" sz="2000">
              <a:solidFill>
                <a:srgbClr val="E39A1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zhoushubo@dhu.edu.cn</a:t>
            </a:r>
          </a:p>
        </p:txBody>
      </p:sp>
      <p:pic>
        <p:nvPicPr>
          <p:cNvPr id="4102" name="图片 9">
            <a:extLst>
              <a:ext uri="{FF2B5EF4-FFF2-40B4-BE49-F238E27FC236}">
                <a16:creationId xmlns="" xmlns:a16="http://schemas.microsoft.com/office/drawing/2014/main" id="{C6CF2EC3-463C-4D2D-8CE4-B610A812C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738" y="1889125"/>
            <a:ext cx="2001837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2">
            <a:extLst>
              <a:ext uri="{FF2B5EF4-FFF2-40B4-BE49-F238E27FC236}">
                <a16:creationId xmlns="" xmlns:a16="http://schemas.microsoft.com/office/drawing/2014/main" id="{1EF4130E-E534-498D-82B2-72EF3A4B7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232"/>
            <a:ext cx="90582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MH_Others_1">
            <a:extLst>
              <a:ext uri="{FF2B5EF4-FFF2-40B4-BE49-F238E27FC236}">
                <a16:creationId xmlns="" xmlns:a16="http://schemas.microsoft.com/office/drawing/2014/main" id="{B1A5B987-29A2-4EA4-9760-1FDA151878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49213"/>
            <a:ext cx="28575" cy="6627812"/>
          </a:xfrm>
          <a:prstGeom prst="line">
            <a:avLst/>
          </a:prstGeom>
          <a:noFill/>
          <a:ln w="25400">
            <a:solidFill>
              <a:srgbClr val="EEDCA3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MH_Others_2">
            <a:extLst>
              <a:ext uri="{FF2B5EF4-FFF2-40B4-BE49-F238E27FC236}">
                <a16:creationId xmlns="" xmlns:a16="http://schemas.microsoft.com/office/drawing/2014/main" id="{32506B0D-3EEF-49AC-A267-5CCF8DDAF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7863" y="6573838"/>
            <a:ext cx="241300" cy="207962"/>
          </a:xfrm>
          <a:prstGeom prst="triangle">
            <a:avLst>
              <a:gd name="adj" fmla="val 50000"/>
            </a:avLst>
          </a:prstGeom>
          <a:solidFill>
            <a:srgbClr val="BBD6E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5" name="MH_Number_1">
            <a:extLst>
              <a:ext uri="{FF2B5EF4-FFF2-40B4-BE49-F238E27FC236}">
                <a16:creationId xmlns="" xmlns:a16="http://schemas.microsoft.com/office/drawing/2014/main" id="{CDDE60B8-07AB-4114-ABC3-81C7F098B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88" y="1050925"/>
            <a:ext cx="693737" cy="606425"/>
          </a:xfrm>
          <a:prstGeom prst="homePlate">
            <a:avLst>
              <a:gd name="adj" fmla="val 28599"/>
            </a:avLst>
          </a:prstGeom>
          <a:solidFill>
            <a:srgbClr val="EEDCA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294166"/>
                </a:solidFill>
                <a:latin typeface="Arial" panose="020B0604020202020204" pitchFamily="34" charset="0"/>
                <a:ea typeface="Microsoft YaHei UI" panose="020B0503020204020204" pitchFamily="34" charset="-122"/>
                <a:sym typeface="Times New Roman" panose="02020603050405020304" pitchFamily="18" charset="0"/>
              </a:rPr>
              <a:t>01</a:t>
            </a:r>
            <a:endParaRPr lang="zh-CN" altLang="en-US" b="1">
              <a:solidFill>
                <a:srgbClr val="294166"/>
              </a:solidFill>
              <a:latin typeface="Arial" panose="020B0604020202020204" pitchFamily="34" charset="0"/>
              <a:ea typeface="Microsoft YaHei UI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126" name="MH_Number_2">
            <a:extLst>
              <a:ext uri="{FF2B5EF4-FFF2-40B4-BE49-F238E27FC236}">
                <a16:creationId xmlns="" xmlns:a16="http://schemas.microsoft.com/office/drawing/2014/main" id="{640E382E-ED49-48F6-B0B9-88F8388EF55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89375" y="2012950"/>
            <a:ext cx="693738" cy="606425"/>
          </a:xfrm>
          <a:prstGeom prst="homePlate">
            <a:avLst>
              <a:gd name="adj" fmla="val 28599"/>
            </a:avLst>
          </a:prstGeom>
          <a:solidFill>
            <a:srgbClr val="EEDCA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294166"/>
                </a:solidFill>
                <a:latin typeface="Arial" panose="020B0604020202020204" pitchFamily="34" charset="0"/>
                <a:ea typeface="Microsoft YaHei UI" panose="020B0503020204020204" pitchFamily="34" charset="-122"/>
                <a:sym typeface="Times New Roman" panose="02020603050405020304" pitchFamily="18" charset="0"/>
              </a:rPr>
              <a:t>02</a:t>
            </a:r>
            <a:endParaRPr lang="zh-CN" altLang="en-US" b="1">
              <a:solidFill>
                <a:srgbClr val="294166"/>
              </a:solidFill>
              <a:latin typeface="Arial" panose="020B0604020202020204" pitchFamily="34" charset="0"/>
              <a:ea typeface="Microsoft YaHei UI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127" name="MH_Others_3">
            <a:extLst>
              <a:ext uri="{FF2B5EF4-FFF2-40B4-BE49-F238E27FC236}">
                <a16:creationId xmlns="" xmlns:a16="http://schemas.microsoft.com/office/drawing/2014/main" id="{72D709CA-A0E3-4C33-9D5D-F6C7C0AE442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568575" y="85725"/>
            <a:ext cx="2019300" cy="849313"/>
          </a:xfrm>
          <a:prstGeom prst="homePlate">
            <a:avLst>
              <a:gd name="adj" fmla="val 59439"/>
            </a:avLst>
          </a:prstGeom>
          <a:solidFill>
            <a:srgbClr val="EEDCA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>
                <a:solidFill>
                  <a:srgbClr val="2941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 录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5128" name="MH_Entry_1">
            <a:extLst>
              <a:ext uri="{FF2B5EF4-FFF2-40B4-BE49-F238E27FC236}">
                <a16:creationId xmlns="" xmlns:a16="http://schemas.microsoft.com/office/drawing/2014/main" id="{D7A32065-B116-42C0-AA2E-862BA4745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2039938"/>
            <a:ext cx="3138488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课题</a:t>
            </a:r>
            <a:r>
              <a:rPr lang="en-US" altLang="zh-CN" b="1" dirty="0" smtClean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介绍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5129" name="矩形 55">
            <a:extLst>
              <a:ext uri="{FF2B5EF4-FFF2-40B4-BE49-F238E27FC236}">
                <a16:creationId xmlns="" xmlns:a16="http://schemas.microsoft.com/office/drawing/2014/main" id="{7BFED6CC-DBED-49F7-9200-A883ADC8A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3901" y="1050925"/>
            <a:ext cx="35382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环境配置</a:t>
            </a:r>
            <a:endParaRPr lang="en-US" altLang="zh-CN" sz="2800" b="1" dirty="0">
              <a:solidFill>
                <a:srgbClr val="E39A1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2">
            <a:extLst>
              <a:ext uri="{FF2B5EF4-FFF2-40B4-BE49-F238E27FC236}">
                <a16:creationId xmlns="" xmlns:a16="http://schemas.microsoft.com/office/drawing/2014/main" id="{1CB4B147-9C30-45D8-93BC-5849C7041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文本框 12">
            <a:extLst>
              <a:ext uri="{FF2B5EF4-FFF2-40B4-BE49-F238E27FC236}">
                <a16:creationId xmlns="" xmlns:a16="http://schemas.microsoft.com/office/drawing/2014/main" id="{A4E03751-3BC2-4583-BFFF-4A2DE22FA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9188" y="2087563"/>
            <a:ext cx="854075" cy="169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500">
                <a:solidFill>
                  <a:srgbClr val="E39A1D"/>
                </a:solidFill>
                <a:latin typeface="Impact" panose="020B0806030902050204" pitchFamily="34" charset="0"/>
                <a:sym typeface="Impact" panose="020B0806030902050204" pitchFamily="34" charset="0"/>
              </a:rPr>
              <a:t>1</a:t>
            </a:r>
            <a:endParaRPr lang="zh-CN" altLang="en-US" sz="11500">
              <a:solidFill>
                <a:srgbClr val="E39A1D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6148" name="文本框 13">
            <a:extLst>
              <a:ext uri="{FF2B5EF4-FFF2-40B4-BE49-F238E27FC236}">
                <a16:creationId xmlns="" xmlns:a16="http://schemas.microsoft.com/office/drawing/2014/main" id="{F8DA1E5D-BC5C-4350-B783-9FAC266AD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3041650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BDA16D"/>
                </a:solidFill>
                <a:latin typeface="Impact" panose="020B0806030902050204" pitchFamily="34" charset="0"/>
                <a:ea typeface="华文隶书" panose="02010800040101010101" pitchFamily="2" charset="-122"/>
                <a:sym typeface="Microsoft New Tai Lue" panose="020B0502040204020203" pitchFamily="34" charset="0"/>
              </a:rPr>
              <a:t>Section</a:t>
            </a:r>
            <a:endParaRPr lang="zh-CN" altLang="en-US" sz="3600">
              <a:solidFill>
                <a:srgbClr val="BDA16D"/>
              </a:solidFill>
              <a:latin typeface="Impact" panose="020B0806030902050204" pitchFamily="34" charset="0"/>
              <a:ea typeface="华文隶书" panose="02010800040101010101" pitchFamily="2" charset="-122"/>
              <a:sym typeface="Microsoft New Tai Lue" panose="020B0502040204020203" pitchFamily="34" charset="0"/>
            </a:endParaRPr>
          </a:p>
        </p:txBody>
      </p:sp>
      <p:sp>
        <p:nvSpPr>
          <p:cNvPr id="6149" name="直接连接符 15">
            <a:extLst>
              <a:ext uri="{FF2B5EF4-FFF2-40B4-BE49-F238E27FC236}">
                <a16:creationId xmlns="" xmlns:a16="http://schemas.microsoft.com/office/drawing/2014/main" id="{2BD63A6C-6B3C-46FC-96A1-A0704E749E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63" y="3897313"/>
            <a:ext cx="7559675" cy="25400"/>
          </a:xfrm>
          <a:prstGeom prst="line">
            <a:avLst/>
          </a:prstGeom>
          <a:noFill/>
          <a:ln w="38100">
            <a:solidFill>
              <a:srgbClr val="E39A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0" name="矩形 9">
            <a:extLst>
              <a:ext uri="{FF2B5EF4-FFF2-40B4-BE49-F238E27FC236}">
                <a16:creationId xmlns="" xmlns:a16="http://schemas.microsoft.com/office/drawing/2014/main" id="{284CFC43-CD4A-4C4F-ACAD-FC337FE35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043" y="2379930"/>
            <a:ext cx="243076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000" b="1" dirty="0" smtClean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Python</a:t>
            </a:r>
            <a:r>
              <a:rPr lang="zh-CN" altLang="en-US" sz="4000" b="1" dirty="0" smtClean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环境配置</a:t>
            </a:r>
            <a:endParaRPr lang="en-US" altLang="zh-CN" sz="4000" b="1" dirty="0">
              <a:solidFill>
                <a:srgbClr val="E39A1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26BF0B89-982A-4E07-A584-6CF21820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90500"/>
            <a:ext cx="661110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：联网，打开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Anaconda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界面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1901" y="1037967"/>
            <a:ext cx="3550508" cy="2273368"/>
            <a:chOff x="473674" y="1070919"/>
            <a:chExt cx="3550508" cy="227336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7294" y="1201162"/>
              <a:ext cx="3248025" cy="2143125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473674" y="1070919"/>
              <a:ext cx="3550508" cy="9061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="" xmlns:a16="http://schemas.microsoft.com/office/drawing/2014/main" id="{4AD13911-7786-4E57-A811-0FD33E0DF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383" y="5987185"/>
            <a:ext cx="26306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出现</a:t>
            </a:r>
            <a:r>
              <a:rPr lang="en-US" altLang="zh-CN" sz="2400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base</a:t>
            </a:r>
            <a:r>
              <a:rPr lang="zh-CN" altLang="en-US" sz="2400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就对了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026" y="3235587"/>
            <a:ext cx="5395656" cy="28273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26BF0B89-982A-4E07-A584-6CF21820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90500"/>
            <a:ext cx="49519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：创建个人虚拟幻境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0184" y="894384"/>
            <a:ext cx="77512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C7254E"/>
                </a:solidFill>
                <a:latin typeface="Source Code Pro" panose="020B0509030403020204" pitchFamily="49" charset="0"/>
              </a:rPr>
              <a:t>conda</a:t>
            </a:r>
            <a:r>
              <a:rPr lang="en-US" altLang="zh-CN" dirty="0">
                <a:solidFill>
                  <a:srgbClr val="C7254E"/>
                </a:solidFill>
                <a:latin typeface="Source Code Pro" panose="020B0509030403020204" pitchFamily="49" charset="0"/>
              </a:rPr>
              <a:t> create -n </a:t>
            </a:r>
            <a:r>
              <a:rPr lang="zh-CN" altLang="en-US" dirty="0">
                <a:solidFill>
                  <a:srgbClr val="C7254E"/>
                </a:solidFill>
                <a:latin typeface="Source Code Pro" panose="020B0509030403020204" pitchFamily="49" charset="0"/>
              </a:rPr>
              <a:t>虚拟环境名字 </a:t>
            </a:r>
            <a:r>
              <a:rPr lang="en-US" altLang="zh-CN" dirty="0">
                <a:solidFill>
                  <a:srgbClr val="C7254E"/>
                </a:solidFill>
                <a:latin typeface="Source Code Pro" panose="020B0509030403020204" pitchFamily="49" charset="0"/>
              </a:rPr>
              <a:t>python=</a:t>
            </a:r>
            <a:r>
              <a:rPr lang="zh-CN" altLang="en-US" dirty="0">
                <a:solidFill>
                  <a:srgbClr val="C7254E"/>
                </a:solidFill>
                <a:latin typeface="Source Code Pro" panose="020B0509030403020204" pitchFamily="49" charset="0"/>
              </a:rPr>
              <a:t>版本（</a:t>
            </a:r>
            <a:r>
              <a:rPr lang="en-US" altLang="zh-CN" dirty="0">
                <a:solidFill>
                  <a:srgbClr val="C7254E"/>
                </a:solidFill>
                <a:latin typeface="Source Code Pro" panose="020B0509030403020204" pitchFamily="49" charset="0"/>
              </a:rPr>
              <a:t>3.5</a:t>
            </a:r>
            <a:r>
              <a:rPr lang="zh-CN" altLang="en-US" dirty="0">
                <a:solidFill>
                  <a:srgbClr val="C7254E"/>
                </a:solidFill>
                <a:latin typeface="Source Code Pro" panose="020B0509030403020204" pitchFamily="49" charset="0"/>
              </a:rPr>
              <a:t>以上</a:t>
            </a:r>
            <a:r>
              <a:rPr lang="zh-CN" altLang="en-US" dirty="0" smtClean="0">
                <a:solidFill>
                  <a:srgbClr val="C7254E"/>
                </a:solidFill>
                <a:latin typeface="Source Code Pro" panose="020B0509030403020204" pitchFamily="49" charset="0"/>
              </a:rPr>
              <a:t>）</a:t>
            </a:r>
            <a:r>
              <a:rPr lang="en-US" altLang="zh-CN" dirty="0" smtClean="0">
                <a:solidFill>
                  <a:srgbClr val="C7254E"/>
                </a:solidFill>
                <a:latin typeface="Source Code Pro" panose="020B0509030403020204" pitchFamily="49" charset="0"/>
              </a:rPr>
              <a:t>-c </a:t>
            </a:r>
            <a:r>
              <a:rPr lang="en-US" altLang="zh-CN" dirty="0">
                <a:solidFill>
                  <a:srgbClr val="C7254E"/>
                </a:solidFill>
                <a:latin typeface="Source Code Pro" panose="020B0509030403020204" pitchFamily="49" charset="0"/>
              </a:rPr>
              <a:t>https://mirrors.tuna.tsinghua.edu.cn/anaconda/pkgs/main</a:t>
            </a:r>
            <a:r>
              <a:rPr lang="en-US" altLang="zh-CN" dirty="0">
                <a:solidFill>
                  <a:srgbClr val="C7254E"/>
                </a:solidFill>
                <a:latin typeface="Source Code Pro" panose="020B0509030403020204" pitchFamily="49" charset="0"/>
              </a:rPr>
              <a:t> </a:t>
            </a:r>
            <a:endParaRPr lang="zh-CN" altLang="en-US" dirty="0">
              <a:solidFill>
                <a:srgbClr val="C7254E"/>
              </a:solidFill>
              <a:latin typeface="Source Code Pro" panose="020B0509030403020204" pitchFamily="49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12" y="1659824"/>
            <a:ext cx="7093808" cy="3143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701" y="2218826"/>
            <a:ext cx="6538526" cy="346901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701" y="5932517"/>
            <a:ext cx="14001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18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26BF0B89-982A-4E07-A584-6CF21820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90500"/>
            <a:ext cx="49519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：创建个人虚拟幻境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169" y="1367481"/>
            <a:ext cx="6116595" cy="353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8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26BF0B89-982A-4E07-A584-6CF21820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90500"/>
            <a:ext cx="413125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：激活虚拟幻境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34" y="2129224"/>
            <a:ext cx="7689799" cy="131419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83741" y="2784389"/>
            <a:ext cx="1647567" cy="6590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09210" y="3664464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ABB2BF"/>
                </a:solidFill>
                <a:latin typeface="Source Code Pro" panose="020B0509030403020204" pitchFamily="49" charset="0"/>
              </a:rPr>
              <a:t>conda</a:t>
            </a:r>
            <a:r>
              <a:rPr lang="en-US" altLang="zh-CN" dirty="0">
                <a:solidFill>
                  <a:srgbClr val="ABB2BF"/>
                </a:solidFill>
                <a:latin typeface="Source Code Pro" panose="020B0509030403020204" pitchFamily="49" charset="0"/>
              </a:rPr>
              <a:t> </a:t>
            </a:r>
            <a:r>
              <a:rPr lang="en-US" altLang="zh-CN" dirty="0" err="1">
                <a:solidFill>
                  <a:srgbClr val="ABB2BF"/>
                </a:solidFill>
                <a:latin typeface="Source Code Pro" panose="020B0509030403020204" pitchFamily="49" charset="0"/>
              </a:rPr>
              <a:t>env</a:t>
            </a:r>
            <a:r>
              <a:rPr lang="en-US" altLang="zh-CN" dirty="0">
                <a:solidFill>
                  <a:srgbClr val="ABB2BF"/>
                </a:solidFill>
                <a:latin typeface="Source Code Pro" panose="020B0509030403020204" pitchFamily="49" charset="0"/>
              </a:rPr>
              <a:t> </a:t>
            </a:r>
            <a:r>
              <a:rPr lang="en-US" altLang="zh-CN" dirty="0">
                <a:solidFill>
                  <a:srgbClr val="669900"/>
                </a:solidFill>
                <a:latin typeface="Source Code Pro" panose="020B0509030403020204" pitchFamily="49" charset="0"/>
              </a:rPr>
              <a:t>list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210" y="4268727"/>
            <a:ext cx="7451555" cy="142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42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26BF0B89-982A-4E07-A584-6CF21820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90500"/>
            <a:ext cx="413125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：激活虚拟幻境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5121" y="978928"/>
            <a:ext cx="3813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conda remove -n 虚拟环境名字 --all</a:t>
            </a:r>
          </a:p>
        </p:txBody>
      </p:sp>
      <p:sp>
        <p:nvSpPr>
          <p:cNvPr id="3" name="矩形 2"/>
          <p:cNvSpPr/>
          <p:nvPr/>
        </p:nvSpPr>
        <p:spPr>
          <a:xfrm>
            <a:off x="935121" y="1367247"/>
            <a:ext cx="4160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conda config --get/conda config --show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84" y="1755566"/>
            <a:ext cx="413385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4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26BF0B89-982A-4E07-A584-6CF21820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90500"/>
            <a:ext cx="67487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：使用</a:t>
            </a:r>
            <a:r>
              <a:rPr lang="en-US" altLang="zh-CN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pycharm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进入激活环境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132098"/>
            <a:ext cx="3362794" cy="497274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52567" y="1425146"/>
            <a:ext cx="3057116" cy="3130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091" y="1804086"/>
            <a:ext cx="5038956" cy="38168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971021" y="3555976"/>
            <a:ext cx="3933026" cy="5135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415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26BF0B89-982A-4E07-A584-6CF21820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90500"/>
            <a:ext cx="67487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：使用</a:t>
            </a:r>
            <a:r>
              <a:rPr lang="en-US" altLang="zh-CN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pycharm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进入激活环境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6" y="1070628"/>
            <a:ext cx="5668920" cy="388803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046589" y="1265857"/>
            <a:ext cx="3933026" cy="5135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157" y="2573570"/>
            <a:ext cx="5494637" cy="415380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514335" y="4580239"/>
            <a:ext cx="4345459" cy="2147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460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94" y="1265857"/>
            <a:ext cx="3362794" cy="4972744"/>
          </a:xfrm>
          <a:prstGeom prst="rect">
            <a:avLst/>
          </a:prstGeom>
        </p:spPr>
      </p:pic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26BF0B89-982A-4E07-A584-6CF21820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90500"/>
            <a:ext cx="67487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：在</a:t>
            </a:r>
            <a:r>
              <a:rPr lang="en-US" altLang="zh-CN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pycharm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中修改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激活环境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06794" y="3080951"/>
            <a:ext cx="2875520" cy="362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948" y="2122875"/>
            <a:ext cx="4973337" cy="352995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349958" y="2426043"/>
            <a:ext cx="3686947" cy="362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16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2">
            <a:extLst>
              <a:ext uri="{FF2B5EF4-FFF2-40B4-BE49-F238E27FC236}">
                <a16:creationId xmlns="" xmlns:a16="http://schemas.microsoft.com/office/drawing/2014/main" id="{1CB4B147-9C30-45D8-93BC-5849C7041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文本框 12">
            <a:extLst>
              <a:ext uri="{FF2B5EF4-FFF2-40B4-BE49-F238E27FC236}">
                <a16:creationId xmlns="" xmlns:a16="http://schemas.microsoft.com/office/drawing/2014/main" id="{A4E03751-3BC2-4583-BFFF-4A2DE22FA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9188" y="2087563"/>
            <a:ext cx="854075" cy="169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500" dirty="0">
                <a:solidFill>
                  <a:srgbClr val="E39A1D"/>
                </a:solidFill>
                <a:latin typeface="Impact" panose="020B0806030902050204" pitchFamily="34" charset="0"/>
                <a:sym typeface="Impact" panose="020B0806030902050204" pitchFamily="34" charset="0"/>
              </a:rPr>
              <a:t>2</a:t>
            </a:r>
            <a:endParaRPr lang="zh-CN" altLang="en-US" sz="11500" dirty="0">
              <a:solidFill>
                <a:srgbClr val="E39A1D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6148" name="文本框 13">
            <a:extLst>
              <a:ext uri="{FF2B5EF4-FFF2-40B4-BE49-F238E27FC236}">
                <a16:creationId xmlns="" xmlns:a16="http://schemas.microsoft.com/office/drawing/2014/main" id="{F8DA1E5D-BC5C-4350-B783-9FAC266AD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3041650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BDA16D"/>
                </a:solidFill>
                <a:latin typeface="Impact" panose="020B0806030902050204" pitchFamily="34" charset="0"/>
                <a:ea typeface="华文隶书" panose="02010800040101010101" pitchFamily="2" charset="-122"/>
                <a:sym typeface="Microsoft New Tai Lue" panose="020B0502040204020203" pitchFamily="34" charset="0"/>
              </a:rPr>
              <a:t>Section</a:t>
            </a:r>
            <a:endParaRPr lang="zh-CN" altLang="en-US" sz="3600">
              <a:solidFill>
                <a:srgbClr val="BDA16D"/>
              </a:solidFill>
              <a:latin typeface="Impact" panose="020B0806030902050204" pitchFamily="34" charset="0"/>
              <a:ea typeface="华文隶书" panose="02010800040101010101" pitchFamily="2" charset="-122"/>
              <a:sym typeface="Microsoft New Tai Lue" panose="020B0502040204020203" pitchFamily="34" charset="0"/>
            </a:endParaRPr>
          </a:p>
        </p:txBody>
      </p:sp>
      <p:sp>
        <p:nvSpPr>
          <p:cNvPr id="6149" name="直接连接符 15">
            <a:extLst>
              <a:ext uri="{FF2B5EF4-FFF2-40B4-BE49-F238E27FC236}">
                <a16:creationId xmlns="" xmlns:a16="http://schemas.microsoft.com/office/drawing/2014/main" id="{2BD63A6C-6B3C-46FC-96A1-A0704E749E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63" y="3897313"/>
            <a:ext cx="7559675" cy="25400"/>
          </a:xfrm>
          <a:prstGeom prst="line">
            <a:avLst/>
          </a:prstGeom>
          <a:noFill/>
          <a:ln w="38100">
            <a:solidFill>
              <a:srgbClr val="E39A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0" name="矩形 9">
            <a:extLst>
              <a:ext uri="{FF2B5EF4-FFF2-40B4-BE49-F238E27FC236}">
                <a16:creationId xmlns="" xmlns:a16="http://schemas.microsoft.com/office/drawing/2014/main" id="{284CFC43-CD4A-4C4F-ACAD-FC337FE35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44" y="2979877"/>
            <a:ext cx="27876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 dirty="0" smtClean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课题</a:t>
            </a:r>
            <a:r>
              <a:rPr lang="en-US" altLang="zh-CN" sz="4000" b="1" dirty="0" smtClean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4000" b="1" dirty="0" smtClean="0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介绍</a:t>
            </a:r>
            <a:endParaRPr lang="en-US" altLang="zh-CN" sz="4000" b="1" dirty="0">
              <a:solidFill>
                <a:srgbClr val="E39A1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7152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39893DD6-A693-4641-AEE6-D460B22D8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470586"/>
            <a:ext cx="888090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课题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（二选一）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6-8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周完成，第十周前提交报告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grpSp>
        <p:nvGrpSpPr>
          <p:cNvPr id="8195" name="组合 6">
            <a:extLst>
              <a:ext uri="{FF2B5EF4-FFF2-40B4-BE49-F238E27FC236}">
                <a16:creationId xmlns="" xmlns:a16="http://schemas.microsoft.com/office/drawing/2014/main" id="{F63BAC48-670F-4B0F-BA0A-CB43EDDC8006}"/>
              </a:ext>
            </a:extLst>
          </p:cNvPr>
          <p:cNvGrpSpPr>
            <a:grpSpLocks/>
          </p:cNvGrpSpPr>
          <p:nvPr/>
        </p:nvGrpSpPr>
        <p:grpSpPr bwMode="auto">
          <a:xfrm>
            <a:off x="361950" y="1179556"/>
            <a:ext cx="8520542" cy="4673109"/>
            <a:chOff x="364808" y="1124744"/>
            <a:chExt cx="8520866" cy="4672968"/>
          </a:xfrm>
        </p:grpSpPr>
        <p:sp>
          <p:nvSpPr>
            <p:cNvPr id="8" name="矩形 7">
              <a:extLst>
                <a:ext uri="{FF2B5EF4-FFF2-40B4-BE49-F238E27FC236}">
                  <a16:creationId xmlns="" xmlns:a16="http://schemas.microsoft.com/office/drawing/2014/main" id="{07C76A63-5BD1-4580-AFCB-36AC44D800B2}"/>
                </a:ext>
              </a:extLst>
            </p:cNvPr>
            <p:cNvSpPr/>
            <p:nvPr/>
          </p:nvSpPr>
          <p:spPr>
            <a:xfrm>
              <a:off x="364808" y="1124744"/>
              <a:ext cx="8422007" cy="292327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sz="3600" b="1" kern="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sz="3600" b="1" kern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.</a:t>
              </a:r>
              <a:r>
                <a:rPr lang="zh-CN" altLang="en-US" sz="2699" kern="0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在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一个</a:t>
              </a:r>
              <a:r>
                <a:rPr lang="en-US" altLang="zh-CN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9x9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的数独棋盘上，填充数字，要求每一行、每一列和每一个</a:t>
              </a:r>
              <a:r>
                <a:rPr lang="en-US" altLang="zh-CN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3x3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的小九宫格内都包含了数字</a:t>
              </a:r>
              <a:r>
                <a:rPr lang="en-US" altLang="zh-CN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到</a:t>
              </a:r>
              <a:r>
                <a:rPr lang="en-US" altLang="zh-CN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9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，而且没有重复的数字。给定一个部分填充的数独棋盘，编写</a:t>
              </a:r>
              <a:r>
                <a:rPr lang="en-US" altLang="zh-CN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Python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代码来解决这个数独难题并</a:t>
              </a:r>
              <a:r>
                <a:rPr lang="zh-CN" altLang="en-US" sz="2699" kern="0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找到一个解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。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2699" kern="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en-US" altLang="zh-CN" sz="4000" kern="0" dirty="0">
                <a:solidFill>
                  <a:srgbClr val="FF0000"/>
                </a:solidFill>
                <a:latin typeface="华光行楷_CNKI" panose="02000500000000000000" pitchFamily="2" charset="-122"/>
                <a:ea typeface="华光行楷_CNKI" panose="02000500000000000000" pitchFamily="2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08D7F164-31ED-421D-AAE8-C544DD0FB953}"/>
                </a:ext>
              </a:extLst>
            </p:cNvPr>
            <p:cNvSpPr/>
            <p:nvPr/>
          </p:nvSpPr>
          <p:spPr>
            <a:xfrm>
              <a:off x="463666" y="3351347"/>
              <a:ext cx="8422008" cy="2446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sz="3600" b="1" kern="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2.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假设有一个旅行商，他需要</a:t>
              </a:r>
              <a:r>
                <a:rPr lang="zh-CN" altLang="en-US" sz="2699" kern="0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访问</a:t>
              </a:r>
              <a:r>
                <a:rPr lang="en-US" altLang="zh-CN" sz="2699" kern="0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20</a:t>
              </a:r>
              <a:r>
                <a:rPr lang="zh-CN" altLang="en-US" sz="2699" kern="0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个城市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并返回起始城市，但要求以最短路径完成任务。</a:t>
              </a:r>
              <a:r>
                <a:rPr lang="zh-CN" altLang="en-US" sz="2699" kern="0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给定</a:t>
              </a:r>
              <a:r>
                <a:rPr lang="en-US" altLang="zh-CN" sz="2699" kern="0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20</a:t>
              </a:r>
              <a:r>
                <a:rPr lang="zh-CN" altLang="en-US" sz="2699" kern="0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个城市的坐标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，编写</a:t>
              </a:r>
              <a:r>
                <a:rPr lang="en-US" altLang="zh-CN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Python</a:t>
              </a:r>
              <a:r>
                <a:rPr lang="zh-CN" altLang="en-US" sz="2699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代码来找到最短的访问路径，使得旅行商经过每个城市仅一次，然后返回起始城市。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en-US" altLang="zh-CN" sz="3600" kern="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39893DD6-A693-4641-AEE6-D460B22D8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40" y="314068"/>
            <a:ext cx="888090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报告要求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07C76A63-5BD1-4580-AFCB-36AC44D800B2}"/>
              </a:ext>
            </a:extLst>
          </p:cNvPr>
          <p:cNvSpPr/>
          <p:nvPr/>
        </p:nvSpPr>
        <p:spPr bwMode="auto">
          <a:xfrm>
            <a:off x="303233" y="1172678"/>
            <a:ext cx="8421687" cy="106170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6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sz="36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r>
              <a:rPr lang="zh-CN" altLang="en-US" sz="2699" kern="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包含</a:t>
            </a:r>
            <a:r>
              <a:rPr lang="zh-CN" altLang="en-US" sz="2699" kern="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研究目的、研究内容、技术流程图、代码解释和研究总结</a:t>
            </a:r>
            <a:endParaRPr lang="en-US" altLang="zh-CN" sz="2699" kern="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08D7F164-31ED-421D-AAE8-C544DD0FB953}"/>
              </a:ext>
            </a:extLst>
          </p:cNvPr>
          <p:cNvSpPr/>
          <p:nvPr/>
        </p:nvSpPr>
        <p:spPr bwMode="auto">
          <a:xfrm>
            <a:off x="303233" y="2364553"/>
            <a:ext cx="8421688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6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altLang="zh-CN" sz="36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2-3</a:t>
            </a:r>
            <a:r>
              <a:rPr lang="zh-CN" altLang="en-US" sz="36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人</a:t>
            </a:r>
            <a:r>
              <a:rPr lang="zh-CN" altLang="en-US" sz="2699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一组分</a:t>
            </a:r>
            <a:r>
              <a:rPr lang="zh-CN" altLang="en-US" sz="2699" kern="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组编程，但报告需要每人教一份</a:t>
            </a:r>
            <a:endParaRPr lang="en-US" altLang="zh-CN" sz="2699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7C76A63-5BD1-4580-AFCB-36AC44D800B2}"/>
              </a:ext>
            </a:extLst>
          </p:cNvPr>
          <p:cNvSpPr/>
          <p:nvPr/>
        </p:nvSpPr>
        <p:spPr bwMode="auto">
          <a:xfrm>
            <a:off x="303234" y="3141059"/>
            <a:ext cx="8421687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6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en-US" altLang="zh-CN" sz="36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r>
              <a:rPr lang="zh-CN" altLang="en-US" sz="2699" kern="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除技术流程图外，其他内容每人自主独立完成</a:t>
            </a:r>
            <a:endParaRPr lang="en-US" altLang="zh-CN" sz="2699" kern="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7C76A63-5BD1-4580-AFCB-36AC44D800B2}"/>
              </a:ext>
            </a:extLst>
          </p:cNvPr>
          <p:cNvSpPr/>
          <p:nvPr/>
        </p:nvSpPr>
        <p:spPr bwMode="auto">
          <a:xfrm>
            <a:off x="303233" y="3864492"/>
            <a:ext cx="8421687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6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4.</a:t>
            </a:r>
            <a:r>
              <a:rPr lang="zh-CN" altLang="en-US" sz="2699" kern="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代码解释率≥</a:t>
            </a:r>
            <a:r>
              <a:rPr lang="en-US" altLang="zh-CN" sz="2699" kern="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50%</a:t>
            </a:r>
            <a:r>
              <a:rPr lang="zh-CN" altLang="en-US" sz="2699" kern="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，关键代码要求全部解释</a:t>
            </a:r>
            <a:endParaRPr lang="en-US" altLang="zh-CN" sz="2699" kern="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2245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39893DD6-A693-4641-AEE6-D460B22D8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40" y="314068"/>
            <a:ext cx="888090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数独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求解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递归回溯法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8311" y="1290930"/>
            <a:ext cx="75677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选择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一个空白单元格</a:t>
            </a:r>
            <a:r>
              <a:rPr lang="zh-CN" altLang="en-US" sz="2400" b="1" dirty="0" smtClean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dirty="0" smtClean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zh-CN" altLang="en-US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数独棋盘中选择一个还没有填入数字的空白单元格。</a:t>
            </a:r>
          </a:p>
          <a:p>
            <a:pPr>
              <a:buFont typeface="+mj-lt"/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尝试填入数字</a:t>
            </a:r>
            <a:r>
              <a:rPr lang="zh-CN" altLang="en-US" sz="2400" b="1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从</a:t>
            </a:r>
            <a:r>
              <a:rPr lang="en-US" altLang="zh-CN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中选择一个数字尝试填入所选的单元格。</a:t>
            </a:r>
          </a:p>
          <a:p>
            <a:pPr>
              <a:buFont typeface="+mj-lt"/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检查有效性</a:t>
            </a:r>
            <a:r>
              <a:rPr lang="zh-CN" altLang="en-US" sz="2400" b="1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检查所填数字是否在同一行、同一列和同一小九宫格中都没有重复出现。</a:t>
            </a:r>
          </a:p>
          <a:p>
            <a:pPr>
              <a:buFont typeface="+mj-lt"/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递归搜索</a:t>
            </a:r>
            <a:r>
              <a:rPr lang="zh-CN" altLang="en-US" sz="2400" b="1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如果填入的数字有效，继续递归地选择下一个空白单元格，并重复步骤</a:t>
            </a:r>
            <a:r>
              <a:rPr lang="en-US" altLang="zh-CN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 smtClean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dirty="0" smtClean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 smtClean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endParaRPr lang="en-US" altLang="zh-CN" sz="2400" dirty="0" smtClean="0">
              <a:solidFill>
                <a:srgbClr val="37415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回溯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 </a:t>
            </a:r>
            <a:r>
              <a:rPr lang="zh-CN" altLang="en-US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如果无法找到有效的数字，回溯到上一个单元格，并尝试其他数字。</a:t>
            </a:r>
          </a:p>
          <a:p>
            <a:r>
              <a:rPr lang="en-US" altLang="zh-CN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重复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直到完成： </a:t>
            </a:r>
            <a:r>
              <a:rPr lang="zh-CN" altLang="en-US" sz="2400" dirty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重复上述步骤，直到填满整个数独棋盘或无法再填入数字</a:t>
            </a:r>
            <a:r>
              <a:rPr lang="zh-CN" altLang="en-US" sz="2400" dirty="0" smtClean="0">
                <a:solidFill>
                  <a:srgbClr val="37415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为止</a:t>
            </a:r>
            <a:endParaRPr lang="zh-CN" altLang="en-US" sz="2400" dirty="0">
              <a:solidFill>
                <a:srgbClr val="37415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3045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33">
            <a:extLst>
              <a:ext uri="{FF2B5EF4-FFF2-40B4-BE49-F238E27FC236}">
                <a16:creationId xmlns="" xmlns:a16="http://schemas.microsoft.com/office/drawing/2014/main" id="{39893DD6-A693-4641-AEE6-D460B22D8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40" y="314068"/>
            <a:ext cx="888090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旅行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商问题求解</a:t>
            </a:r>
            <a:r>
              <a:rPr lang="en-US" altLang="zh-CN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贪婪法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758" y="1002605"/>
            <a:ext cx="86880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  <a:latin typeface="Söhne"/>
              </a:rPr>
              <a:t>初始化</a:t>
            </a:r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随机选择一个城市作为起始城市，将其标记为已访问。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创建一个空路径，将起始城市添加到路径中。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  <a:latin typeface="Söhne"/>
              </a:rPr>
              <a:t>主循环</a:t>
            </a:r>
            <a:r>
              <a:rPr lang="zh-CN" altLang="en-US" sz="2000" dirty="0">
                <a:solidFill>
                  <a:srgbClr val="FF0000"/>
                </a:solidFill>
                <a:latin typeface="Söhne"/>
              </a:rPr>
              <a:t>：</a:t>
            </a:r>
          </a:p>
          <a:p>
            <a:pPr lvl="1"/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在主循环中，重复以下步骤，直到所有城市都被访问一次。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  <a:latin typeface="Söhne"/>
              </a:rPr>
              <a:t>选择下一个城市</a:t>
            </a:r>
            <a:r>
              <a:rPr lang="zh-CN" altLang="en-US" sz="2000" dirty="0">
                <a:solidFill>
                  <a:srgbClr val="FF0000"/>
                </a:solidFill>
                <a:latin typeface="Söhne"/>
              </a:rPr>
              <a:t>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对于当前路径中的最后一个城市，计算它与所有未访问城市的距离。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选择距离最近的未访问城市作为下一个要访问的城市。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  <a:latin typeface="Söhne"/>
              </a:rPr>
              <a:t>更新路径</a:t>
            </a:r>
            <a:r>
              <a:rPr lang="zh-CN" altLang="en-US" sz="2000" dirty="0">
                <a:solidFill>
                  <a:srgbClr val="FF0000"/>
                </a:solidFill>
                <a:latin typeface="Söhne"/>
              </a:rPr>
              <a:t>：</a:t>
            </a:r>
          </a:p>
          <a:p>
            <a:pPr lvl="1"/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将步骤</a:t>
            </a:r>
            <a:r>
              <a:rPr lang="en-US" altLang="zh-CN" sz="2000" dirty="0">
                <a:solidFill>
                  <a:srgbClr val="374151"/>
                </a:solidFill>
                <a:latin typeface="Söhne"/>
              </a:rPr>
              <a:t>3</a:t>
            </a:r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中选择的城市添加到路径中，并标记为已访问。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  <a:latin typeface="Söhne"/>
              </a:rPr>
              <a:t>重复</a:t>
            </a:r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：</a:t>
            </a:r>
          </a:p>
          <a:p>
            <a:pPr lvl="1"/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回到步骤</a:t>
            </a:r>
            <a:r>
              <a:rPr lang="en-US" altLang="zh-CN" sz="2000" dirty="0">
                <a:solidFill>
                  <a:srgbClr val="374151"/>
                </a:solidFill>
                <a:latin typeface="Söhne"/>
              </a:rPr>
              <a:t>3</a:t>
            </a:r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，继续选择下一个城市，直到所有城市都被访问一次。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  <a:latin typeface="Söhne"/>
              </a:rPr>
              <a:t>完成路径</a:t>
            </a:r>
            <a:r>
              <a:rPr lang="zh-CN" altLang="en-US" sz="2000" dirty="0">
                <a:solidFill>
                  <a:srgbClr val="FF0000"/>
                </a:solidFill>
                <a:latin typeface="Söhne"/>
              </a:rPr>
              <a:t>：</a:t>
            </a:r>
          </a:p>
          <a:p>
            <a:pPr lvl="1"/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当所有城市都被访问后，返回到起始城市，形成闭合路径。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  <a:latin typeface="Söhne"/>
              </a:rPr>
              <a:t>计算路径长度</a:t>
            </a:r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：</a:t>
            </a:r>
          </a:p>
          <a:p>
            <a:pPr lvl="1"/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计算路径的总长度，即访问每个城市的距离之和。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  <a:latin typeface="Söhne"/>
              </a:rPr>
              <a:t>输出结果</a:t>
            </a:r>
            <a:r>
              <a:rPr lang="zh-CN" altLang="en-US" sz="2000" dirty="0">
                <a:solidFill>
                  <a:srgbClr val="FF0000"/>
                </a:solidFill>
                <a:latin typeface="Söhne"/>
              </a:rPr>
              <a:t>：</a:t>
            </a:r>
          </a:p>
          <a:p>
            <a:pPr lvl="1"/>
            <a:r>
              <a:rPr lang="zh-CN" altLang="en-US" sz="2000" dirty="0">
                <a:solidFill>
                  <a:srgbClr val="374151"/>
                </a:solidFill>
                <a:latin typeface="Söhne"/>
              </a:rPr>
              <a:t>输出最短路径和路径长度作为解决方案。</a:t>
            </a:r>
            <a:endParaRPr lang="zh-CN" altLang="en-US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694768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图片 12">
            <a:extLst>
              <a:ext uri="{FF2B5EF4-FFF2-40B4-BE49-F238E27FC236}">
                <a16:creationId xmlns="" xmlns:a16="http://schemas.microsoft.com/office/drawing/2014/main" id="{77AD1D06-750A-4552-AF56-4EEF0CFFB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" r="499"/>
          <a:stretch>
            <a:fillRect/>
          </a:stretch>
        </p:blipFill>
        <p:spPr bwMode="auto">
          <a:xfrm>
            <a:off x="0" y="0"/>
            <a:ext cx="9137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矩形 7">
            <a:extLst>
              <a:ext uri="{FF2B5EF4-FFF2-40B4-BE49-F238E27FC236}">
                <a16:creationId xmlns="" xmlns:a16="http://schemas.microsoft.com/office/drawing/2014/main" id="{FEB8891E-D5DA-47B7-B167-65FD2DA36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8" y="3429000"/>
            <a:ext cx="2159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400" b="1">
                <a:solidFill>
                  <a:srgbClr val="E39A1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谢谢</a:t>
            </a:r>
            <a:endParaRPr lang="en-US" altLang="zh-CN" sz="4400" b="1">
              <a:solidFill>
                <a:srgbClr val="E39A1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7892" name="图片 11">
            <a:extLst>
              <a:ext uri="{FF2B5EF4-FFF2-40B4-BE49-F238E27FC236}">
                <a16:creationId xmlns="" xmlns:a16="http://schemas.microsoft.com/office/drawing/2014/main" id="{0518F94F-9307-4336-9C78-09141DB46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738" y="1889125"/>
            <a:ext cx="2001837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13441</TotalTime>
  <Pages>0</Pages>
  <Words>686</Words>
  <Characters>0</Characters>
  <Application>Microsoft Office PowerPoint</Application>
  <DocSecurity>0</DocSecurity>
  <PresentationFormat>全屏显示(4:3)</PresentationFormat>
  <Lines>0</Lines>
  <Paragraphs>62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Microsoft YaHei UI</vt:lpstr>
      <vt:lpstr>Söhne</vt:lpstr>
      <vt:lpstr>黑体</vt:lpstr>
      <vt:lpstr>华光行楷_CNKI</vt:lpstr>
      <vt:lpstr>华文琥珀</vt:lpstr>
      <vt:lpstr>华文楷体</vt:lpstr>
      <vt:lpstr>华文隶书</vt:lpstr>
      <vt:lpstr>宋体</vt:lpstr>
      <vt:lpstr>微软雅黑</vt:lpstr>
      <vt:lpstr>Arial</vt:lpstr>
      <vt:lpstr>Calibri</vt:lpstr>
      <vt:lpstr>Calibri Light</vt:lpstr>
      <vt:lpstr>Impact</vt:lpstr>
      <vt:lpstr>Microsoft New Tai Lue</vt:lpstr>
      <vt:lpstr>Source Code Pro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subject/>
  <dc:creator>锐旗设计;https://9ppt.taobao.com</dc:creator>
  <cp:keywords>锐旗设计；https:/9ppt.taobao.com</cp:keywords>
  <dc:description/>
  <cp:lastModifiedBy>Microsoft 帐户</cp:lastModifiedBy>
  <cp:revision>1426</cp:revision>
  <dcterms:created xsi:type="dcterms:W3CDTF">2014-11-18T07:27:00Z</dcterms:created>
  <dcterms:modified xsi:type="dcterms:W3CDTF">2023-09-15T06:49:44Z</dcterms:modified>
  <cp:category>锐旗设计；https://9ppt.taobao.com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2052-9.1.0.5184</vt:lpwstr>
  </property>
</Properties>
</file>